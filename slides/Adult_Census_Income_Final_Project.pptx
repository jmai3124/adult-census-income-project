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bi3MFBk/OILv38GN/KyxSJuLPb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Elli Ta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83994C-E3C2-42A5-95C3-9F8CB9DA39B7}">
  <a:tblStyle styleId="{7383994C-E3C2-42A5-95C3-9F8CB9DA39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30T23:25:28.798">
    <p:pos x="6000" y="0"/>
    <p:text>update when full thing is finished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Qb7dvA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30T23:49:43.614">
    <p:pos x="6000" y="0"/>
    <p:text>udpate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Qb7dv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ithub.com/jmai3124/adult-census-income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966960" y="-1280160"/>
            <a:ext cx="4206240" cy="4206240"/>
          </a:xfrm>
          <a:prstGeom prst="ellipse">
            <a:avLst/>
          </a:prstGeom>
          <a:solidFill>
            <a:srgbClr val="281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281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1965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KAGGLE ADULT CENSUS INCOME  •  FINAL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37744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Predicting Income Above $50,000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3375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A CRISP-DM Aligned Machine Learning Analysis for Client &amp; Management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5074920"/>
            <a:ext cx="5852160" cy="18288"/>
          </a:xfrm>
          <a:prstGeom prst="rect">
            <a:avLst/>
          </a:prstGeom>
          <a:solidFill>
            <a:srgbClr val="4A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5257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Prepared by: </a:t>
            </a:r>
            <a:r>
              <a:rPr i="1" lang="en-US" sz="1800">
                <a:solidFill>
                  <a:srgbClr val="C7B4E3"/>
                </a:solidFill>
                <a:latin typeface="Calibri"/>
                <a:ea typeface="Calibri"/>
                <a:cs typeface="Calibri"/>
                <a:sym typeface="Calibri"/>
              </a:rPr>
              <a:t>Elli Tai, </a:t>
            </a:r>
            <a:r>
              <a:rPr i="1" lang="en-US" sz="1800">
                <a:solidFill>
                  <a:srgbClr val="C7B4E3"/>
                </a:solidFill>
                <a:latin typeface="Calibri"/>
                <a:ea typeface="Calibri"/>
                <a:cs typeface="Calibri"/>
                <a:sym typeface="Calibri"/>
              </a:rPr>
              <a:t>Jessica Mai,</a:t>
            </a:r>
            <a:r>
              <a:rPr i="1" lang="en-US" sz="1800">
                <a:solidFill>
                  <a:srgbClr val="C7B4E3"/>
                </a:solidFill>
                <a:latin typeface="Calibri"/>
                <a:ea typeface="Calibri"/>
                <a:cs typeface="Calibri"/>
                <a:sym typeface="Calibri"/>
              </a:rPr>
              <a:t> Ksatria Amongpraja</a:t>
            </a:r>
            <a:endParaRPr i="1" sz="1800">
              <a:solidFill>
                <a:srgbClr val="C7B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6263650"/>
            <a:ext cx="989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CB8"/>
              </a:buClr>
              <a:buSzPts val="1100"/>
              <a:buFont typeface="Calibri"/>
              <a:buNone/>
            </a:pPr>
            <a:r>
              <a:rPr lang="en-US" sz="1800">
                <a:solidFill>
                  <a:srgbClr val="9A8CB8"/>
                </a:solidFill>
                <a:latin typeface="Calibri"/>
                <a:ea typeface="Calibri"/>
                <a:cs typeface="Calibri"/>
                <a:sym typeface="Calibri"/>
              </a:rPr>
              <a:t>MSDS 422: Practical Machine Learning, Section 55</a:t>
            </a:r>
            <a:r>
              <a:rPr b="0" i="0" lang="en-US" sz="1800" u="none" cap="none" strike="noStrike">
                <a:solidFill>
                  <a:srgbClr val="9A8CB8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1800">
                <a:solidFill>
                  <a:srgbClr val="9A8CB8"/>
                </a:solidFill>
                <a:latin typeface="Calibri"/>
                <a:ea typeface="Calibri"/>
                <a:cs typeface="Calibri"/>
                <a:sym typeface="Calibri"/>
              </a:rPr>
              <a:t>August 30th,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600200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21792" y="1764792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21792" y="1764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15568" y="17099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15568" y="2020824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Headline findings and where the project stands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80760" y="1600200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45352" y="1764792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45352" y="1764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739128" y="17099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739128" y="2020824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The business question and research objectives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2898648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21792" y="3063240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1792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15568" y="300837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15568" y="3319272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Patterns, data quality, and assumptions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080760" y="2898648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245352" y="3063240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245352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739128" y="300837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Data Preparation &amp; Feature Engineering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739128" y="3319272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Cleaning, transformations, and encoding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4197096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21792" y="4361688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21792" y="4361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15568" y="430682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Methodology &amp; Tools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15568" y="461772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Tooling, evaluation framework, model selection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80760" y="4197096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245352" y="4361688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245352" y="4361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739128" y="430682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739128" y="461772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Logistic Regression and Decision Tree (complete); Random Forest and Gradient Boosting (in progress)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7200" y="5495544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21792" y="5660136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21792" y="5660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15568" y="560527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Findings &amp; Business Impact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115568" y="5916168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Comparison, drivers, practicality, and deployment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080760" y="5495544"/>
            <a:ext cx="5349240" cy="1133856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245352" y="5660136"/>
            <a:ext cx="384048" cy="384048"/>
          </a:xfrm>
          <a:prstGeom prst="ellipse">
            <a:avLst/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245352" y="5660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739128" y="560527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Lessons Learned &amp; Next Steps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739128" y="5916168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Recommendations and references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Predicting Who Earns More Than $50K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1554480"/>
            <a:ext cx="68580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Goal: predict whether an individual's annual income exceeds $50,000 using 14 demographic, education, and employment attributes from 32,561 U.S. Census records.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target is moderately imbalanced (~76% earn ≤$50K, ~24% earn &gt;$50K), so the team evaluates models on precision, recall, F1, and ROC-AUC rather than accuracy alone.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Data quality required deliberate handling: values disguised as "?" masked ~1,800 missing entries each in workclass and occupation, retained as an explicit "Unknown" category rather than dropped.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EDA identified education, occupation, marital status, relationship, and sex as the strongest predictors of income; fnlwgt, race, and native country add comparatively little.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Two of four planned models are complete and consistent: Logistic Regression (holdout ROC-AUC 0.899) and Decision Tree (holdout ROC-AUC 0.867) both point to marital status, education, and capital activity as the leading drivers of income.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Random Forest (Person B) and Gradient Boosting (Person C) are in progress; business-impact quantification and the deployment plan follow once all four models are complete.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366760" y="1554480"/>
            <a:ext cx="333756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366760" y="1627632"/>
            <a:ext cx="3337560" cy="715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32,561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458200" y="2295144"/>
            <a:ext cx="3154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Records × 14 predictor variables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366760" y="2926080"/>
            <a:ext cx="333756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366760" y="2999232"/>
            <a:ext cx="3337560" cy="715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76 / 24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458200" y="3666744"/>
            <a:ext cx="3154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Percent split, ≤$50K vs &gt;$50K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366760" y="4297680"/>
            <a:ext cx="333756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366760" y="4370832"/>
            <a:ext cx="3337560" cy="715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2 of 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458200" y="5038344"/>
            <a:ext cx="3154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Models complete (LR, Decision Tree)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Kaggle, "Adult Census Income" dataset; team analysis.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Research Objectives &amp; Success Criteria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150876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1847088"/>
            <a:ext cx="6949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Which observable demographic, educational, and employment characteristics best predict whether an individual earns more than $50,000 per year</a:t>
            </a:r>
            <a:r>
              <a:rPr lang="en-US" sz="13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5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and how reliably can a model make that call for policy or market-analysis use cases?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26974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Formal Task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303580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Binary classification: assign each record to "&gt;50K" or "≤50K" using 14 predictors (6 numeric, 8 categorical).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36118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3950208"/>
            <a:ext cx="6949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Primary: F1 score and ROC-AUC for the &gt;50K class (the class of business interest).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Secondary: overall accuracy, reported for context only — not the deciding metric given the class imbalance.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092440" y="1508760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257032" y="161848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57032" y="1965960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257032" y="2258568"/>
            <a:ext cx="32826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A 76% / 24% split means naive accuracy can be misleading; recall/F1/ROC-AUC on the minority (&gt;50K) class matter more.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092440" y="3081528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8257032" y="3191256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257032" y="3538728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57032" y="3831336"/>
            <a:ext cx="32826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Disguised missing values and extremely skewed capital variables require deliberate treatment before modeling.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092440" y="4654296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257032" y="4764024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257032" y="5111496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Mixed, High-Cardinality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257032" y="5404104"/>
            <a:ext cx="32826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8 categorical predictors — some with 40+ levels — require thoughtful consolidation, not naive one-hot expansion.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Target Variable &amp; Class Imbalance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1810512"/>
            <a:ext cx="5394960" cy="379476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088A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income_distribution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938528"/>
            <a:ext cx="5138928" cy="353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6629400" y="1600200"/>
            <a:ext cx="50749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4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32,561 records, 15 columns — 14 predictor variables and one binary target (income).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475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Approximately 76% of individuals earn ≤$50K and 24% earn &gt;$50K — a moderate, not severe, imbalance.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475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Implication: overall accuracy alone can look strong while missing many high earners, so the team also reports precision, recall, F1, and ROC-AUC — with extra weight on the &gt;50K class.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ANALYTICS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CRISP-DM &amp; TDSP Alignment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project follows the Cross-Industry Standard Process for Data Mining (CRISP-DM), the most widely used data-mining lifecycle, with Microsoft's Team Data Science Process (TDSP) as a complementary, team-oriented lens for collaboration and deployment.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30352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30352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176272" y="2898648"/>
            <a:ext cx="201168" cy="274320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359152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432304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432304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078224" y="2898648"/>
            <a:ext cx="201168" cy="274320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261104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334256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334256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Cleaning, feature engineering, transforms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980176" y="2898648"/>
            <a:ext cx="201168" cy="274320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163056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236208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236208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4 candidate algorithms, shared CV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882128" y="2898648"/>
            <a:ext cx="201168" cy="274320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065008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138160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138160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Shared metrics, holdout testing, comparison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784080" y="2898648"/>
            <a:ext cx="201168" cy="274320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966960" y="2331720"/>
            <a:ext cx="1737360" cy="1417320"/>
          </a:xfrm>
          <a:prstGeom prst="roundRect">
            <a:avLst>
              <a:gd fmla="val 5161" name="adj"/>
            </a:avLst>
          </a:prstGeom>
          <a:solidFill>
            <a:srgbClr val="FFF4DE"/>
          </a:solidFill>
          <a:ln cap="flat" cmpd="sng" w="127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0040112" y="2441448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040112" y="2990088"/>
            <a:ext cx="159105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6116"/>
                </a:solidFill>
                <a:latin typeface="Calibri"/>
                <a:ea typeface="Calibri"/>
                <a:cs typeface="Calibri"/>
                <a:sym typeface="Calibri"/>
              </a:rPr>
              <a:t>Automation strategy (in progress — Person 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Cyclic process — iteration back to earlier phases (e.g., revisiting Data Preparation after multicollinearity diagnostics) is expected and documented throughout this deck.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TDSP maps the same work into five iterative stages — Business Understanding; Data Acquisition &amp; Understanding; Modeling; Deployment; Customer Acceptance — and adds team-workflow and automation guidance the group used when dividing modeling work across three members.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Data Science PM, "What is CRISP-DM?"; IBM Documentation, "Introduction to CRISP-DM" (SPSS Modeler); Microsoft Learn, "What is the Team Data Science Process?"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Data Quality: Missingness Patterns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6" y="1595625"/>
            <a:ext cx="107286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892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Raw data disguises missing values as the string "?" rather than a true null — replaced with NaN before analysis.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workclass (5.6%) and occupation (5.7%) are missing in nearly the same rows, consistent with unemployed or never-worked individuals — evidence the missingness is not random.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Both were filled with an explicit "Unknown" category rather than dropped, preserving that signal.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native.country missingness is smaller (1.8%) and heavily concentrated toward one value, so it was imputed with the mode ("United-States").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team EDA (df.isnull().sum()) on Kaggle's "Adult Census Income" dataset.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Numeric Features &amp; Correlation Screen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1810512"/>
            <a:ext cx="5349240" cy="4160520"/>
          </a:xfrm>
          <a:prstGeom prst="roundRect">
            <a:avLst>
              <a:gd fmla="val 1319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088A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correlation_heatmap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938528"/>
            <a:ext cx="5093208" cy="3904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6629400" y="1600200"/>
            <a:ext cx="50749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209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All pairwise correlations among the six numeric variables are below 0.20 (see heatmap)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indicates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low multicollinearity risk, so each captures largely distinct information.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2095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capital.gain (skew 11.95) and capital.loss (skew 4.59) are extremely right-skewed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M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ost individuals report zero, with a small number of very large values.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2095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fnlwgt (skew 1.45) is a Census sampling weight, not a personal trait, and behaves similarly across both income groups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was f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lagged as a weak standalone predictor.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2095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age, hours.per.week, and education.num are close to symmetric (skew 0.56, 0.23, −0.31).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Categorical Predictors of Income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385550" y="1508750"/>
            <a:ext cx="5044500" cy="4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019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Education shows the clearest gradient: higher-attainment tiers (Bachelors, Masters, Prof-school, Doctorate) make up a much larger share of the &gt;50K group than of the overall population.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Marital status: 85.4% of &gt;50K earners are married (civilian spouse), vs. just 6.3% never-married — the sharpest categorical split in the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Sex: 85.0% of &gt;50K earners are male vs. 15.0% female.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Relationship: 75.5% of &gt;50K earners hold the "Husband" relationship category.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Race and native country (not pictured) show much weaker separation between income groups and are treated as secondary predictors.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00800"/>
            <a:ext cx="5486399" cy="2650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158475"/>
            <a:ext cx="5489921" cy="26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Key Assumptions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" y="1536192"/>
            <a:ext cx="6949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Unit of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1847088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One row = one respondent from the 1994 U.S. Census extract used to build the Adult / Census Income dataset.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57200" y="242316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Underlying Assumptions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57200" y="2743200"/>
            <a:ext cx="6949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"?" placeholders represent structural (likely not-at-random) missingness tied to employment status, and </a:t>
            </a:r>
            <a:r>
              <a:rPr lang="en-US" sz="126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not random nois</a:t>
            </a:r>
            <a:r>
              <a:rPr lang="en-US" sz="126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e. This </a:t>
            </a: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supports the "Unknown" category treatment.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251A38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dataset is a single historical snapshot (1994); demographic and economic relationships may have shifted since.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3785623"/>
            <a:ext cx="6949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Feature Interactions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4132950"/>
            <a:ext cx="694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Capital activity, age, and hours worked tend to move together for higher earner</a:t>
            </a:r>
            <a:r>
              <a:rPr lang="en-US" sz="126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is </a:t>
            </a:r>
            <a:r>
              <a:rPr b="0" i="0" lang="en-US" sz="12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addressed later through combined and binned engineered features rather than raw variables alone.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092440" y="1536192"/>
            <a:ext cx="3611880" cy="4343400"/>
          </a:xfrm>
          <a:prstGeom prst="roundRect">
            <a:avLst>
              <a:gd fmla="val 2025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321040" y="17830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Bottom 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321040" y="2148840"/>
            <a:ext cx="3154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variable dominates. Predictive signal comes from the combination of numeric and categorical attributes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education, occupation, marital status, relationship, sex, age, hours, and capital activity together.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321040" y="3749040"/>
            <a:ext cx="3154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This motivates disciplined feature engineering and a multi-model comparison rather than relying on any one "obvious" predictor.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Kaggle, "Adult Census Income" dataset; team EDA.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Missing Value Treatment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11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{7383994C-E3C2-42A5-95C3-9F8CB9DA39B7}</a:tableStyleId>
              </a:tblPr>
              <a:tblGrid>
                <a:gridCol w="1920250"/>
                <a:gridCol w="1554475"/>
                <a:gridCol w="3291850"/>
                <a:gridCol w="4480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workclass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1,836 (5.6%)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Filled with "Unknown"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pattern aligns with unemployed / never-worked individuals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1,843 (5.7%)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Filled with "Unknown"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in nearly the same rows as workclass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native.country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583 (1.8%)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Filled with mode ("United-States")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share, heavily concentrated toward one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11"/>
          <p:cNvSpPr/>
          <p:nvPr/>
        </p:nvSpPr>
        <p:spPr>
          <a:xfrm>
            <a:off x="457200" y="3703320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Why not drop the ~5.6% of rows with missing employment fields?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" y="4041648"/>
            <a:ext cx="11247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workclass and occupation are missing together — dropping those rows would remove a coherent, meaningful subgroup (likely unemployed / not in the labor force) rather than noise.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Treating the gap as an explicit "Unknown" category preserves that information for the model instead of discarding it or guessing a specific employment status.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native.country's missingness is small and concentrated, so mode imputation introduces minimal distortion.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1554480"/>
            <a:ext cx="548640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40080" y="169164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Capital Activity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40080" y="2048256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net.capital = capital.gain − capital.loss; has.capital.change flags any nonzero activity (1/0).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40080" y="299923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60"/>
              <a:buFont typeface="Calibri"/>
              <a:buNone/>
            </a:pPr>
            <a:r>
              <a:rPr b="0" i="1" lang="en-US" sz="106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Condenses two sparse, mostly-zero variables into one signal, plus a simple activity flag.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217920" y="1554480"/>
            <a:ext cx="548640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6400800" y="169164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Age &amp; Hours Binning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00800" y="2048256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age.group: ≤25, 26-35, 36-45, 46-55, 56-65, 65+. </a:t>
            </a:r>
            <a:endParaRPr sz="113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hours.group: part-time (≤20), under-40, 40, 41-60, 60+.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400800" y="299923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60"/>
              <a:buFont typeface="Calibri"/>
              <a:buNone/>
            </a:pPr>
            <a:r>
              <a:rPr b="0" i="1" lang="en-US" sz="106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Captures nonlinear age/hours effects for linear models while remaining usable by tree models.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57200" y="3840480"/>
            <a:ext cx="548640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640080" y="397764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High-Cardinality Consolidation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40080" y="4334256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native.country → United-States (29,753) vs. Other (2,808).</a:t>
            </a:r>
            <a:endParaRPr sz="113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marital.status:</a:t>
            </a:r>
            <a:endParaRPr sz="113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Married-AF-spouse → Married-civ-spouse;</a:t>
            </a:r>
            <a:endParaRPr sz="113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Married-spouse-absent → Separated (5 final categories).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40080" y="528523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60"/>
              <a:buFont typeface="Calibri"/>
              <a:buNone/>
            </a:pPr>
            <a:r>
              <a:rPr b="0" i="1" lang="en-US" sz="106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Avoids 40+ sparse one-hot columns while preserving the EDA's key distinctions.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217920" y="3840480"/>
            <a:ext cx="548640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400800" y="397764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Education Grouping (Phase 0 correction)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400800" y="4334256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16 raw education levels collapsed into 6 tiers by observed income rate: Below-HS, HS-grad, Some-college, Bachelors, Masters, Graduate/Professional.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400800" y="528523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60"/>
              <a:buFont typeface="Calibri"/>
              <a:buNone/>
            </a:pPr>
            <a:r>
              <a:rPr b="0" i="1" lang="en-US" sz="106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Lets the model estimate a distinct effect per tier instead of one linear effect across education.num.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Transformations, Scaling &amp; Encoding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57200" y="425196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net.capital.log = sign(net.capital) × log1p(|net.capital|) — reduces skew from 11.87 to 1.07 while preserving direction (gain vs. loss).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316099" y="1572775"/>
            <a:ext cx="43881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One-hot encoding (drop_first=True) for all nominal categoricals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N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one have a natural order, so ordinal/label encoding would imply a false ranking.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income is converted to a binary integer (1 = &gt;50K) for use with classification algorithms and standard metrics.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StandardScaler is applied to continuous predictors inside each model's pipeline (not on the shared matrix)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is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required for scale-sensitive models like Logistic Regression, while leaving tree-based models unaffected.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result was 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an analysis-ready, fully numeric dataset with no missing values, ready for the common modeling framework.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06138"/>
            <a:ext cx="6735400" cy="21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Final Analysis-Ready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457200" y="1691640"/>
            <a:ext cx="264033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594360" y="1828800"/>
            <a:ext cx="236601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Midpoint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94360" y="2313432"/>
            <a:ext cx="236601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32,561 rows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× 57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94360" y="2926080"/>
            <a:ext cx="236601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Cleaned, encoded, scaled per the midpoint submission.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060954" y="2743200"/>
            <a:ext cx="219456" cy="292608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3326130" y="1691640"/>
            <a:ext cx="264033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3463290" y="1828800"/>
            <a:ext cx="236601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Phase 0 Correction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463290" y="2313432"/>
            <a:ext cx="236601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→ 59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3463290" y="2926080"/>
            <a:ext cx="236601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Fixed education encoding (still a string) and converted 51 boolean one-hot columns to integers.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5929884" y="2743200"/>
            <a:ext cx="219456" cy="292608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195060" y="1691640"/>
            <a:ext cx="264033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332220" y="1828800"/>
            <a:ext cx="236601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VIF-Driven Refinement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332220" y="2313432"/>
            <a:ext cx="236601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→ 53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332220" y="2926080"/>
            <a:ext cx="236601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Removed age, hours.per.week, capital.gain, capital.loss, net.capital, workclass_Unknown after multicollinearity diagnostics (Logistic Regression phase).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798814" y="2743200"/>
            <a:ext cx="219456" cy="292608"/>
          </a:xfrm>
          <a:prstGeom prst="chevron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9063990" y="1691640"/>
            <a:ext cx="2640330" cy="2331720"/>
          </a:xfrm>
          <a:prstGeom prst="roundRect">
            <a:avLst>
              <a:gd fmla="val 3137" name="adj"/>
            </a:avLst>
          </a:prstGeom>
          <a:solidFill>
            <a:srgbClr val="3D2465"/>
          </a:solidFill>
          <a:ln cap="flat" cmpd="sng" w="12700">
            <a:solidFill>
              <a:srgbClr val="3D24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9201150" y="1828800"/>
            <a:ext cx="236601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Common Feature 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201150" y="2313432"/>
            <a:ext cx="236601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53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adopted by all 4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201150" y="2926080"/>
            <a:ext cx="236601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Ensures Logistic Regression, Decision Tree, Random Forest, and Gradient Boosting are compared on an identical, apples-to-apples basis.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No missing values and no non-numeric columns remain in the final 53-feature matrix used across Logistic Regression, Decision Tree, Random Forest, and Gradient Boosting.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Tooling &amp; Compute Environment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57200" y="1600200"/>
            <a:ext cx="5486400" cy="1572768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621792" y="1746504"/>
            <a:ext cx="128016" cy="1280160"/>
          </a:xfrm>
          <a:prstGeom prst="roundRect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896112" y="1728216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96112" y="2039112"/>
            <a:ext cx="488289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Anaconda distribution running Jupyter Notebook (local), with Google Colab </a:t>
            </a:r>
            <a:r>
              <a:rPr lang="en-US" sz="112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Google Drive supported for shared team access to a common dataset copy.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217920" y="1600200"/>
            <a:ext cx="5486400" cy="1572768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6382512" y="1746504"/>
            <a:ext cx="128016" cy="1280160"/>
          </a:xfrm>
          <a:prstGeom prst="roundRect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6656832" y="1728216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Core Libraries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656832" y="2039112"/>
            <a:ext cx="488289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pandas &amp; NumPy (data handling)</a:t>
            </a:r>
            <a:endParaRPr sz="112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Matplotlib &amp; Seaborn (visualization)</a:t>
            </a:r>
            <a:endParaRPr sz="112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SciPy (skewness diagnostics)</a:t>
            </a:r>
            <a:endParaRPr sz="112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scikit-learn (pipelines, models, cross-validation, metrics)</a:t>
            </a:r>
            <a:endParaRPr sz="112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statsmodels (VIF multicollinearity diagnostics)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57200" y="3310128"/>
            <a:ext cx="5486400" cy="1572768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621792" y="3456432"/>
            <a:ext cx="128016" cy="1280160"/>
          </a:xfrm>
          <a:prstGeom prst="roundRect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896112" y="3438144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896112" y="3749040"/>
            <a:ext cx="488289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Standard CPU. Logistic Regression, Decision Tree, Random Forest, and Gradient Boosting are classical ML algorithms that do not require GPU/TPU acceleration at this dataset size (32,561 rows × 53 features).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6217920" y="3310128"/>
            <a:ext cx="5486400" cy="1572768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6382512" y="3456432"/>
            <a:ext cx="128016" cy="1280160"/>
          </a:xfrm>
          <a:prstGeom prst="roundRect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6656832" y="3438144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656832" y="3749040"/>
            <a:ext cx="488289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GitHub repository for code, notebooks, visualizations, and the final report/deck.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scikit-learn, statsmodels, and Anaconda documentation; team notebook environment.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Common Evaluation Framework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457200" y="148132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Established once</a:t>
            </a:r>
            <a:r>
              <a:rPr i="1" lang="en-US" sz="1300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3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and shared across all four models so results are directly comparable.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57200" y="19202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57200" y="1993392"/>
            <a:ext cx="2651760" cy="822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80 / 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548640" y="2770632"/>
            <a:ext cx="24688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Stratified train / holdout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(26,048 / 6,513 rows, random_state=42)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3246120" y="19202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3246120" y="1993392"/>
            <a:ext cx="2651760" cy="822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5-Fold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3337560" y="2770632"/>
            <a:ext cx="24688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StratifiedKFold cross-validation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(shuffle=True, random_state=42)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035040" y="19202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035040" y="1993392"/>
            <a:ext cx="2651760" cy="822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5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6126480" y="2770632"/>
            <a:ext cx="24688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F1, ROC-AUC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8823960" y="19202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8823960" y="1993392"/>
            <a:ext cx="2651760" cy="822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2 Functions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8915400" y="2770632"/>
            <a:ext cx="24688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evaluate_model_cv() 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evaluate_model_test()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457200" y="3611880"/>
            <a:ext cx="11247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80/20 split preserves the ~76%/24% income-class ratio in both the training set and the untouched holdout test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F1 and ROC-AUC are weighted most heavily, since the project's primary interest is correctly identifying the &gt;50K class rather than maximizing raw accuracy.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Reusable evaluate_model_cv() / evaluate_model_test() functions apply identical CV and holdout procedures to every model, while model-specific preprocessing — e.g., StandardScaler for Logistic Regression — stays inside that model's own pipeline rather than altering the shared dataset.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Same training/test observations, same random seed, and same fold assignments are used for Logistic Regression, Decision Tree, Random Forest, and Gradient Boosting.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scikit-learn documentation — StratifiedKFold, GridSearchCV, model evaluation metrics.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Model Selection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We explored using four different models to classify the data: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17"/>
          <p:cNvGraphicFramePr/>
          <p:nvPr/>
        </p:nvGraphicFramePr>
        <p:xfrm>
          <a:off x="1188700" y="1956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{7383994C-E3C2-42A5-95C3-9F8CB9DA39B7}</a:tableStyleId>
              </a:tblPr>
              <a:tblGrid>
                <a:gridCol w="2834650"/>
                <a:gridCol w="4023350"/>
                <a:gridCol w="2468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Linear, interpretable baseline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B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Non-linear, rule-based single tree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B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 of trees (bagging) + tuning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B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B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b="1" sz="1250">
                        <a:solidFill>
                          <a:srgbClr val="8A61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Sequentially boosted ensemble + tuning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B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B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b="1" sz="1250">
                        <a:solidFill>
                          <a:srgbClr val="8A61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</a:tbl>
          </a:graphicData>
        </a:graphic>
      </p:graphicFrame>
      <p:sp>
        <p:nvSpPr>
          <p:cNvPr id="378" name="Google Shape;378;p17"/>
          <p:cNvSpPr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Logistic Regression and Decision Tree (Person A) are complete, tuned where applicable, and evaluated on the shared 53-feature set — detailed on the following slides.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Random Forest (Person B) and Gradient Boosting (Person C) will use the identical CV framework and holdout set; their results will be added to the model comparison and business-impact sections once complete.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1 —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Setup &amp; Multicollinearity Refinement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457200" y="1481328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Pipeline: StandardScaler → LogisticRegression(max_iter=1000, random_state=42)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57200" y="187452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Key Decision: Resolving Multicollinearity (VIF)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457200" y="2240280"/>
            <a:ext cx="5440680" cy="3566160"/>
          </a:xfrm>
          <a:prstGeom prst="roundRect">
            <a:avLst>
              <a:gd fmla="val 1795" name="adj"/>
            </a:avLst>
          </a:prstGeom>
          <a:solidFill>
            <a:srgbClr val="FBEFEF"/>
          </a:solidFill>
          <a:ln cap="flat" cmpd="sng" w="12700">
            <a:solidFill>
              <a:srgbClr val="E2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640080" y="2395728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B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3B3B"/>
                </a:solidFill>
                <a:latin typeface="Calibri"/>
                <a:ea typeface="Calibri"/>
                <a:cs typeface="Calibri"/>
                <a:sym typeface="Calibri"/>
              </a:rPr>
              <a:t>Before — 59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640080" y="2743200"/>
            <a:ext cx="50749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6 predictors show infinite VIF: capital.gain, capital.loss, net.capital, workclass_Never-worked, workclass_Unknown, and occupation_Unknown </a:t>
            </a:r>
            <a:r>
              <a:rPr lang="en-US" sz="116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exact linear dependence).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Several others show very high VIF: marital.status_Married-civ-spouse (40.8), relationship_Not-in-family (30.9), age (22.7), relationship_Own-child (21.4).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Root cause: engineered features (net.capital, age.group, etc.) were kept alongside their original raw source variables from the midpoint feature engineering.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6263640" y="2240280"/>
            <a:ext cx="5440680" cy="3566160"/>
          </a:xfrm>
          <a:prstGeom prst="roundRect">
            <a:avLst>
              <a:gd fmla="val 1795" name="adj"/>
            </a:avLst>
          </a:prstGeom>
          <a:solidFill>
            <a:srgbClr val="EAF7EE"/>
          </a:solidFill>
          <a:ln cap="flat" cmpd="sng" w="12700">
            <a:solidFill>
              <a:srgbClr val="A9D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6446520" y="2395728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B3A"/>
                </a:solidFill>
                <a:latin typeface="Calibri"/>
                <a:ea typeface="Calibri"/>
                <a:cs typeface="Calibri"/>
                <a:sym typeface="Calibri"/>
              </a:rPr>
              <a:t>After — 53 Features (Final)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6446520" y="2743200"/>
            <a:ext cx="50749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Removed: age, hours.per.week, capital.gain, capital.loss, net.capital, and workclass_Unknown </a:t>
            </a:r>
            <a:r>
              <a:rPr lang="en-US" sz="116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since we</a:t>
            </a: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kept their engineered equivalents (age.group, hours.group, net.capital.log, has.capital.change).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Result: zero infinite VIFs. Highest remaining VIF is 40.8 (marital.status_Married-civ-spouse) — overlapping categorical information, not exact redundancy.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Decision rationale: favor predictor independence and interpretability over the small performance gain from keeping redundant raw features.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statsmodels documentation — variance_inflation_factor.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1 —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Holdout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g/lr_confusion_matrix.png" id="408" name="Google Shape;4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647" y="1649413"/>
            <a:ext cx="4313239" cy="330313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9"/>
          <p:cNvSpPr/>
          <p:nvPr/>
        </p:nvSpPr>
        <p:spPr>
          <a:xfrm>
            <a:off x="7746005" y="5205756"/>
            <a:ext cx="4160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Holdout: 85.1% accuracy, 72.5% precision, 61.2% recall, 66.4% F1, 89.9% ROC-AUC.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499050"/>
            <a:ext cx="7116923" cy="4170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1 —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ROC Curve &amp; Classification Detail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g/lr_roc_curve.png" id="421" name="Google Shape;4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63696"/>
            <a:ext cx="5495550" cy="399760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0"/>
          <p:cNvSpPr/>
          <p:nvPr/>
        </p:nvSpPr>
        <p:spPr>
          <a:xfrm>
            <a:off x="6172200" y="1600200"/>
            <a:ext cx="5349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Classification Report (Holdout)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20"/>
          <p:cNvGraphicFramePr/>
          <p:nvPr/>
        </p:nvGraphicFramePr>
        <p:xfrm>
          <a:off x="61722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{7383994C-E3C2-42A5-95C3-9F8CB9DA39B7}</a:tableStyleId>
              </a:tblPr>
              <a:tblGrid>
                <a:gridCol w="1508750"/>
                <a:gridCol w="1280150"/>
                <a:gridCol w="1280150"/>
                <a:gridCol w="1280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88.27%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92.66%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90.41%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&gt;50K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72.54%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61.16%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66.37%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p20"/>
          <p:cNvSpPr/>
          <p:nvPr/>
        </p:nvSpPr>
        <p:spPr>
          <a:xfrm>
            <a:off x="6172200" y="3337560"/>
            <a:ext cx="5349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ROC curve sits well above the random-classifier reference line across the full range of thresholds</a:t>
            </a:r>
            <a:r>
              <a:rPr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The</a:t>
            </a: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holdout ROC-AUC of 0.8994 confirms strong overall discrimination.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classification report shows the model performs much better on the majority ≤50K class (90.4% F1) than the &gt;50K class (66.4% F1)</a:t>
            </a:r>
            <a:r>
              <a:rPr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</a:t>
            </a: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he imbalance shows up directly in class-specific performance.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Lower recall (61.2%) for &gt;50K means a meaningful share of true high earners are still missed, even though the model rarely raises a false alarm on obvious low earners.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1 —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Key Income Drivers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g/lr_coefficients.png" id="435" name="Google Shape;4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1" y="1517891"/>
            <a:ext cx="6464807" cy="3904488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1"/>
          <p:cNvSpPr/>
          <p:nvPr/>
        </p:nvSpPr>
        <p:spPr>
          <a:xfrm>
            <a:off x="7269475" y="1517900"/>
            <a:ext cx="44349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Married (civilian spouse): ~2.90× higher odds of earning &gt;$50K vs. the reference marital-status category.</a:t>
            </a:r>
            <a:endParaRPr sz="16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Age 36–45 and 46–55: ~2.2× higher odds of earning &gt;$50K vs. the ≤25 reference age group.</a:t>
            </a:r>
            <a:endParaRPr sz="16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Working 41–60 hrs/week: ~1.80× higher odds of earning &gt;$50K vs. the reference hours group.</a:t>
            </a:r>
            <a:endParaRPr sz="16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Below-high-school education: ~49% lower odds of earning &gt;$50K vs. the reference education group.</a:t>
            </a:r>
            <a:endParaRPr sz="16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Caveat: These are conditional associations, not causal effects. net.capital.log showed a nonlinear relationship with the fitted log-odds, which is a limitation of the Logistic Regression model.</a:t>
            </a:r>
            <a:endParaRPr sz="16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2 — 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Hyperparameter Tuning &amp; Complexity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7635240" y="1554480"/>
            <a:ext cx="40233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088A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7635240" y="1627632"/>
            <a:ext cx="4023360" cy="6099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108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7726680" y="2185416"/>
            <a:ext cx="38404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GridSearchCV combinations tested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(max_depth, min_samples_split/leaf, criterion), scored on F1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7635240" y="2743200"/>
            <a:ext cx="4023360" cy="2606040"/>
          </a:xfrm>
          <a:prstGeom prst="roundRect">
            <a:avLst>
              <a:gd fmla="val 2456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7818120" y="2880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Best Configuration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7818120" y="320040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criterion = gini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max_depth = 5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min_samples_split = 2</a:t>
            </a:r>
            <a:endParaRPr sz="113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min_samples_leaf = 1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Resulting tree: depth 5</a:t>
            </a:r>
            <a:r>
              <a:rPr lang="en-US" sz="113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26 leaves</a:t>
            </a:r>
            <a:r>
              <a:rPr lang="en-US" sz="113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 deliberately constrained structure.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Training vs. CV performance stay close (F1 0.675 vs. 0.660) — no strong overfitting signal.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Source: scikit-learn documentation — GridSearchCV, DecisionTreeClassifier.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0"/>
            <a:ext cx="7330440" cy="4304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2 — 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Holdout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g/dt_confusion_matrix.png" id="465" name="Google Shape;4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16" y="1632204"/>
            <a:ext cx="5367528" cy="390448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3"/>
          <p:cNvSpPr/>
          <p:nvPr/>
        </p:nvSpPr>
        <p:spPr>
          <a:xfrm>
            <a:off x="6172200" y="1627632"/>
            <a:ext cx="5349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Holdout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7" name="Google Shape;467;p23"/>
          <p:cNvGraphicFramePr/>
          <p:nvPr/>
        </p:nvGraphicFramePr>
        <p:xfrm>
          <a:off x="61722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{7383994C-E3C2-42A5-95C3-9F8CB9DA39B7}</a:tableStyleId>
              </a:tblPr>
              <a:tblGrid>
                <a:gridCol w="3108950"/>
                <a:gridCol w="2240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82.07%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60.94%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71.05%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65.61%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86.72%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8" name="Google Shape;468;p23"/>
          <p:cNvSpPr/>
          <p:nvPr/>
        </p:nvSpPr>
        <p:spPr>
          <a:xfrm>
            <a:off x="6172200" y="4160520"/>
            <a:ext cx="5349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Recall (71.1%) exceeds Logistic Regression's (61.2%) — the tree catches more true &gt;50K earners, at the cost of more false positives (lower precision: 60.9% vs. 72.5%).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For a business use case that prioritizes not missing high earners, this trade-off may be preferable to Logistic Regression's.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2 — 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ROC Curve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57200" y="1828800"/>
            <a:ext cx="580644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088A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dt_roc_curve.png" id="480" name="Google Shape;4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956816"/>
            <a:ext cx="5550408" cy="408736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4"/>
          <p:cNvSpPr/>
          <p:nvPr/>
        </p:nvSpPr>
        <p:spPr>
          <a:xfrm>
            <a:off x="6355080" y="1737360"/>
            <a:ext cx="51663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019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Holdout ROC-AUC of 0.8672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indicates a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good separation between the ≤50K and &gt;50K classes, though below Logistic Regression's 0.8994.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curve's shape is notably more "stepped" than Logistic Regression's smooth curve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This is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a natural consequence of a single tree with only 26 leaves producing a limited number of distinct predicted-probability values.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19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Logistic Regression offers slightly stronger overall ranking ability, while the Decision Tree offers higher recall at the specific default threshold</a:t>
            </a:r>
            <a:r>
              <a:rPr lang="en-US" sz="16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 Choosing between the two models </a:t>
            </a:r>
            <a:r>
              <a:rPr b="0" i="0" lang="en-US" sz="16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depends on how false negatives vs. false positives are weighted.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 2 — 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Feature Importance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7559699" y="1618488"/>
            <a:ext cx="417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630"/>
              <a:buFont typeface="Calibri"/>
              <a:buChar char="•"/>
            </a:pP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Two features</a:t>
            </a:r>
            <a:r>
              <a:rPr lang="en-US" sz="163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marital status (47.9%) and net capital activity (36.7%)</a:t>
            </a:r>
            <a:r>
              <a:rPr lang="en-US" sz="163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account for roughly 85% of total tree importance.</a:t>
            </a:r>
            <a:endParaRPr b="0" i="0" sz="16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30"/>
              <a:buFont typeface="Calibri"/>
              <a:buChar char="•"/>
            </a:pP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Education tiers (HS-grad, Below-HS, Graduate/Professional) contribute most of the remainder.</a:t>
            </a:r>
            <a:endParaRPr b="0" i="0" sz="16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30"/>
              <a:buFont typeface="Calibri"/>
              <a:buChar char="•"/>
            </a:pP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This concentration is a direct consequence of the tree's shallow max_depth = 5 constraint: with only 26 leaves, the tree relies on a small number of high-value splits rather than spreading importance across many features.</a:t>
            </a:r>
            <a:endParaRPr b="0" i="0" sz="16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51A38"/>
              </a:buClr>
              <a:buSzPts val="1630"/>
              <a:buFont typeface="Calibri"/>
              <a:buChar char="•"/>
            </a:pPr>
            <a:r>
              <a:rPr b="0" i="0" lang="en-US" sz="163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Consistent with the midpoint EDA, which flagged marital status and capital activity as strongly associated with income.</a:t>
            </a:r>
            <a:endParaRPr b="0" i="0" sz="16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25" y="1618487"/>
            <a:ext cx="7044269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MODELS 3 &amp;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Random Forest &amp; Gradient Boosting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457200" y="1600200"/>
            <a:ext cx="1124712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685800" y="176479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Model 3: Random Forest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9189720" y="1764792"/>
            <a:ext cx="2286000" cy="329184"/>
          </a:xfrm>
          <a:prstGeom prst="roundRect">
            <a:avLst>
              <a:gd fmla="val 50000" name="adj"/>
            </a:avLst>
          </a:prstGeom>
          <a:solidFill>
            <a:srgbClr val="FFF4DE"/>
          </a:solidFill>
          <a:ln cap="flat" cmpd="sng" w="127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9189720" y="1764792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A611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685800" y="2221992"/>
            <a:ext cx="10789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Bagged ensemble of decision trees; will use the same 53-feature set, 5-fold StratifiedKFold, and holdout split established in the common evaluation framework.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Planned deliverables: hyperparameter tuning (e.g., n_estimators, max_depth, max_features), performance metrics, feature-importance visualization, and comparison against Logistic Regression and Decision Tree.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457200" y="3931920"/>
            <a:ext cx="1124712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685800" y="409651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Model 4: Gradient Boosting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9189720" y="4096512"/>
            <a:ext cx="2286000" cy="329184"/>
          </a:xfrm>
          <a:prstGeom prst="roundRect">
            <a:avLst>
              <a:gd fmla="val 50000" name="adj"/>
            </a:avLst>
          </a:prstGeom>
          <a:solidFill>
            <a:srgbClr val="FFF4DE"/>
          </a:solidFill>
          <a:ln cap="flat" cmpd="sng" w="127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9189720" y="4096512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A611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685800" y="4553712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Sequentially boosted ensemble of shallow trees; will use the identical shared framework for a fair, apples-to-apples comparison.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0" i="0" lang="en-US" sz="116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Planned deliverables: hyperparameter tuning, performance metrics, feature-importance visualization, and integration into the team's final model comparison and deployment plan.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7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Model Performance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Holdout test-set metrics for the two completed models. Random Forest and Gradient Boosting will be added once complete.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5" name="Google Shape;525;p27"/>
          <p:cNvGraphicFramePr/>
          <p:nvPr/>
        </p:nvGraphicFramePr>
        <p:xfrm>
          <a:off x="45720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{7383994C-E3C2-42A5-95C3-9F8CB9DA39B7}</a:tableStyleId>
              </a:tblPr>
              <a:tblGrid>
                <a:gridCol w="3383275"/>
                <a:gridCol w="1417325"/>
                <a:gridCol w="1417325"/>
                <a:gridCol w="1280150"/>
                <a:gridCol w="1188725"/>
                <a:gridCol w="1280150"/>
                <a:gridCol w="12801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2465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 (Final, 53 feat.)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85.08%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72.54%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61.16%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66.37%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89.94%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 (Tuned, depth 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82.07%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60.94%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71.05%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65.61%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86.72%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85.81%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76.88</a:t>
                      </a: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i="1" sz="1150">
                        <a:solidFill>
                          <a:srgbClr val="8A61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58.74</a:t>
                      </a: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i="1" sz="1150">
                        <a:solidFill>
                          <a:srgbClr val="8A61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66.59%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90.82%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1A3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51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87.01%</a:t>
                      </a:r>
                      <a:endParaRPr i="1" sz="1150">
                        <a:solidFill>
                          <a:srgbClr val="8A61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78.65%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63.20%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70.08%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92.24%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11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CFA"/>
                    </a:solidFill>
                  </a:tcPr>
                </a:tc>
              </a:tr>
            </a:tbl>
          </a:graphicData>
        </a:graphic>
      </p:graphicFrame>
      <p:sp>
        <p:nvSpPr>
          <p:cNvPr id="526" name="Google Shape;526;p27"/>
          <p:cNvSpPr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20"/>
              <a:buFont typeface="Calibri"/>
              <a:buChar char="•"/>
            </a:pPr>
            <a:r>
              <a:rPr lang="en-US" sz="122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Gradient Boosting leads</a:t>
            </a:r>
            <a:r>
              <a:rPr b="0" i="0" lang="en-US" sz="12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on ROC-AUC (</a:t>
            </a:r>
            <a:r>
              <a:rPr lang="en-US" sz="122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92.24</a:t>
            </a:r>
            <a:r>
              <a:rPr b="0" i="0" lang="en-US" sz="12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%) and precision — stronger separation of classes and fewer false alarms.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51A38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Decision Tree leads on recall (71.1%) — catches more true high earners, at the cost of more false positives.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8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Consistent Predictive Drivers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Logistic Regression and Decision Tree — built independently with different mechanics — converge on the same leading signals: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457200" y="2011680"/>
            <a:ext cx="5486400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640080" y="213969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Marital Status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640080" y="246888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single strongest signal in both models. Married (civilian spouse) individuals show markedly higher odds of earning &gt;50K (LR odds ratio 2.90×) and drive 47.9% of the Decision Tree's total feature importance.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6217920" y="2011680"/>
            <a:ext cx="5486400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"/>
          <p:cNvSpPr/>
          <p:nvPr/>
        </p:nvSpPr>
        <p:spPr>
          <a:xfrm>
            <a:off x="6400800" y="213969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Capital Activity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6400800" y="246888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net.capital.log is influential in both models, especially the Decision Tree (36.7% of importance) — any reported capital gain or loss is strongly associated with higher income.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457200" y="3931920"/>
            <a:ext cx="5486400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8"/>
          <p:cNvSpPr/>
          <p:nvPr/>
        </p:nvSpPr>
        <p:spPr>
          <a:xfrm>
            <a:off x="640080" y="405993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Education Attainment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640080" y="438912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Both models separate income tiers cleanly by education group, from Below-HS up to Graduate/Professional, matching the EDA's income-rate gradient (5.7% → 73.7%).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6217920" y="3931920"/>
            <a:ext cx="5486400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6400800" y="405993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Hours Worked &amp; 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6400800" y="438912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Working 41-60 hours/week and being in the 36-55 age range are both associated with meaningfully higher odds of earning &gt;50K.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This convergence will be revisited once Random Forest and Gradient Boosting results are available.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9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Business Impact, Practicality &amp; Deployment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457200" y="1600200"/>
            <a:ext cx="1124712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9"/>
          <p:cNvSpPr/>
          <p:nvPr/>
        </p:nvSpPr>
        <p:spPr>
          <a:xfrm>
            <a:off x="685800" y="176479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Business Impact &amp; Practicality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685800" y="2221992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Use case — income screening triage: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for records with observable attributes but missing or unverified income (lending, benefit eligibility, prospect lists), the model imputes a likely &gt;50K flag — used to target likely high earners and to route only flagged records to manual income verification.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Cuts manual screening ~81%: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on the 6,513-record holdout it surfaces 1,260 flags (78.7% correct) instead of reviewing all 6,513 — analyst effort lands on the right records.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Illustrative savings: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at ~10 minutes per manual income check, screening 1,260 flags rather than 6,513 saves ~875 analyst-hours per batch (assumption-based; scales with verification cost).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Interpretable &amp; extensible: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drivers (marital status, capital activity, education, hours) let stakeholders sanity-check outputs; the same pipeline transfers to market segmentation and affordability pre-screening, with a fairness review before individual-level decisions.</a:t>
            </a:r>
            <a:endParaRPr sz="116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457200" y="3931920"/>
            <a:ext cx="1124712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685800" y="409651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Model Deployment Strategy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685800" y="4553712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Batch scoring, not real-time: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income prediction is not latency-sensitive, so the tuned Gradient Boosting pipeline is serialized with joblib and scored on a nightly/weekly schedule; a lightweight Flask/FastAPI service is the fallback for on-demand use.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Annual retraining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aligned with new Census/ACS releases (data is slow-moving), triggered early if monitoring detects performance drops from economic shifts (recessions, wage-policy changes).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Monitoring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tracks prediction drift (share predicted &gt;50K) and feature drift (net.capital.log, marital status, education/occupation), re-scoring a labeled sample with the same Phase-1 metrics (F1, ROC-AUC).</a:t>
            </a:r>
            <a:endParaRPr sz="11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60"/>
              <a:buFont typeface="Calibri"/>
              <a:buChar char="•"/>
            </a:pPr>
            <a:r>
              <a:rPr b="1"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Tooling: </a:t>
            </a:r>
            <a:r>
              <a:rPr lang="en-US" sz="11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scheduled scoring/monitoring pipeline, a versioned model registry for rollback, and a logging/alerting layer to fire the retraining trigger.</a:t>
            </a:r>
            <a:endParaRPr sz="116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Framing follows CRISP-DM's Evaluation/Deployment phases and TDSP's Deployment stage (see References).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9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0"/>
          <p:cNvSpPr/>
          <p:nvPr/>
        </p:nvSpPr>
        <p:spPr>
          <a:xfrm>
            <a:off x="457275" y="4837174"/>
            <a:ext cx="11247000" cy="183300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LESSONS LEARNED &amp;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A Modeling-Phase Lesson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457200" y="1572768"/>
            <a:ext cx="1124712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2700">
            <a:solidFill>
              <a:srgbClr val="DCC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0"/>
          <p:cNvSpPr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Check for redundancy when a feature is engineered — not just before modeling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0"/>
          <p:cNvSpPr/>
          <p:nvPr/>
        </p:nvSpPr>
        <p:spPr>
          <a:xfrm>
            <a:off x="685800" y="2194560"/>
            <a:ext cx="107899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The midpoint feature-engineering stage created derived variables 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net.capital, age.group, hours.group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but retained their original raw source columns (age, hours.per.week, capital.gain, capital.loss) alongside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This redundancy surfaced during Logistic Regression's Variance Inflation Factor (VIF) diagnostics, producing 6 infinite VIF values and requiring a dedicated feature-reduction step before the model could be 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100"/>
              </a:spcBef>
              <a:spcAft>
                <a:spcPts val="0"/>
              </a:spcAft>
              <a:buClr>
                <a:srgbClr val="251A3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In the future, we should 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build a multicollinearity check (e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a quick VIF pass) into the Data Preparation phase itself, after engineered features 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created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not only right before modeling</a:t>
            </a:r>
            <a:r>
              <a:rPr lang="en-US" sz="13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 so redundant raw/derived pairs are resolved for downstream models.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All four models agreed on the top drivers </a:t>
            </a:r>
            <a:r>
              <a:rPr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(marital status, capital activity) — the signal is algorithm-robust, so cross-model convergence is a validity check worth keeping.</a:t>
            </a:r>
            <a:endParaRPr sz="12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Precision outran recall in every model </a:t>
            </a:r>
            <a:r>
              <a:rPr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at the 0.5 cutoff (Gradient Boosting 78.7% vs. 63.2%) — the decision threshold, not just the algorithm, should be tuned to the business goal.</a:t>
            </a:r>
            <a:endParaRPr sz="12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A shared Phase-1 evaluation framework </a:t>
            </a:r>
            <a:r>
              <a:rPr lang="en-US" sz="120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(one train/test split, CV strategy, and metric set) made all four models directly comparable and kept Gradient Boosting's win (F1 0.70, ROC-AUC 0.92) credible.</a:t>
            </a:r>
            <a:endParaRPr sz="120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700938" y="4919548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Lessons Learned &amp; 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LESSONS LEARNED &amp;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Next Steps &amp; Additional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457200" y="1600200"/>
            <a:ext cx="548640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1"/>
          <p:cNvSpPr/>
          <p:nvPr/>
        </p:nvSpPr>
        <p:spPr>
          <a:xfrm>
            <a:off x="658368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Additional Methods &amp; Models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658368" y="219948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To be completed — candidates to evaluate against the current 4-model comparison: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658368" y="2702405"/>
            <a:ext cx="5029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XGBoost / LightGBM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optimized boosting that often beats standard Gradient Boosting with faster training, making a wider hyperparameter search feasible.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Threshold tuning &amp; broader search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lower the 0.5 cutoff via a precision-recall curve to recover recall, and run RandomizedSearch/Bayesian optimization over wider grids.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Model stacking / ensembling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blend the four models' predicted probabilities, or add a neural-network (MLP) baseline, to test whether combining diverse learners beats Gradient Boosting alone.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6217920" y="1600200"/>
            <a:ext cx="548640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5875">
            <a:solidFill>
              <a:srgbClr val="E7DC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1"/>
          <p:cNvSpPr/>
          <p:nvPr/>
        </p:nvSpPr>
        <p:spPr>
          <a:xfrm>
            <a:off x="6419088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3D2465"/>
                </a:solidFill>
                <a:latin typeface="Calibri"/>
                <a:ea typeface="Calibri"/>
                <a:cs typeface="Calibri"/>
                <a:sym typeface="Calibri"/>
              </a:rPr>
              <a:t>Third-Party Datasets to Add Value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6419088" y="219948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To be completed — external data sources that could enrich this analysis: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6419088" y="2702405"/>
            <a:ext cx="5029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BLS wage &amp; cost-of-living data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regional wage and price indices to adjust the fixed $50K threshold for local purchasing power.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Full Census ACS / IPUMS microdata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richer, current socioeconomic fields (industry, housing, benefits) and larger samples than the 1994 extract.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250"/>
              <a:buFont typeface="Calibri"/>
              <a:buChar char="•"/>
            </a:pPr>
            <a:r>
              <a:rPr b="1"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Labor &amp; credit indicators — </a:t>
            </a:r>
            <a:r>
              <a:rPr lang="en-US" sz="1250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BLS occupation and employment trends, or credit-bureau affordability data, to add economic context beyond demographics.</a:t>
            </a:r>
            <a:endParaRPr sz="1250">
              <a:solidFill>
                <a:srgbClr val="251A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C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2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17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81748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105156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3D2465"/>
                </a:solidFill>
                <a:latin typeface="Cambria"/>
                <a:ea typeface="Cambria"/>
                <a:cs typeface="Cambria"/>
                <a:sym typeface="Cambria"/>
              </a:rPr>
              <a:t>Sources &amp; Documentation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457200" y="1572768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2"/>
          <p:cNvSpPr/>
          <p:nvPr/>
        </p:nvSpPr>
        <p:spPr>
          <a:xfrm>
            <a:off x="457200" y="1572768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2"/>
          <p:cNvSpPr/>
          <p:nvPr/>
        </p:nvSpPr>
        <p:spPr>
          <a:xfrm>
            <a:off x="2057400" y="1572768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Kaggle. "Adult Census Income."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2"/>
          <p:cNvSpPr/>
          <p:nvPr/>
        </p:nvSpPr>
        <p:spPr>
          <a:xfrm>
            <a:off x="8686800" y="157276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kaggle.com/datasets/uciml/adult-census-income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457200" y="2194560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2"/>
          <p:cNvSpPr/>
          <p:nvPr/>
        </p:nvSpPr>
        <p:spPr>
          <a:xfrm>
            <a:off x="457200" y="2194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2"/>
          <p:cNvSpPr/>
          <p:nvPr/>
        </p:nvSpPr>
        <p:spPr>
          <a:xfrm>
            <a:off x="2057400" y="2194560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Data Science PM. "What is CRISP-DM?"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/>
          <p:nvPr/>
        </p:nvSpPr>
        <p:spPr>
          <a:xfrm>
            <a:off x="8686800" y="219456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datascience-pm.com/crisp-dm-2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457200" y="2816352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2"/>
          <p:cNvSpPr/>
          <p:nvPr/>
        </p:nvSpPr>
        <p:spPr>
          <a:xfrm>
            <a:off x="457200" y="281635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2"/>
          <p:cNvSpPr/>
          <p:nvPr/>
        </p:nvSpPr>
        <p:spPr>
          <a:xfrm>
            <a:off x="2057400" y="2816352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IBM Documentation. "Introduction to CRISP-DM," IBM SPSS Modeler.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8686800" y="281635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ibm.com/docs/en/spss-modeler/18.6.0?topic=overview-crisp-dm-in-spss-modeler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2"/>
          <p:cNvSpPr/>
          <p:nvPr/>
        </p:nvSpPr>
        <p:spPr>
          <a:xfrm>
            <a:off x="457200" y="3438144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2"/>
          <p:cNvSpPr/>
          <p:nvPr/>
        </p:nvSpPr>
        <p:spPr>
          <a:xfrm>
            <a:off x="457200" y="3438144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2057400" y="3438144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Microsoft Learn. "What is the Team Data Science Process?"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8686800" y="343814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learn.microsoft.com/en-us/azure/architecture/data-science-process/overview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457200" y="4059936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2"/>
          <p:cNvSpPr/>
          <p:nvPr/>
        </p:nvSpPr>
        <p:spPr>
          <a:xfrm>
            <a:off x="457200" y="405993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2057400" y="4059936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scikit-learn documentation — LogisticRegression, DecisionTreeClassifier, StratifiedKFold, GridSearchCV, model evaluation metrics.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8686800" y="405993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scikit-learn.org/stable/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457200" y="4681728"/>
            <a:ext cx="1417320" cy="512064"/>
          </a:xfrm>
          <a:prstGeom prst="roundRect">
            <a:avLst>
              <a:gd fmla="val 10714" name="adj"/>
            </a:avLst>
          </a:prstGeom>
          <a:solidFill>
            <a:srgbClr val="3D2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2"/>
          <p:cNvSpPr/>
          <p:nvPr/>
        </p:nvSpPr>
        <p:spPr>
          <a:xfrm>
            <a:off x="457200" y="4681728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2057400" y="4681728"/>
            <a:ext cx="6537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1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1A38"/>
                </a:solidFill>
                <a:latin typeface="Calibri"/>
                <a:ea typeface="Calibri"/>
                <a:cs typeface="Calibri"/>
                <a:sym typeface="Calibri"/>
              </a:rPr>
              <a:t>statsmodels documentation — variance_inflation_factor.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8686800" y="468172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3FA0"/>
                </a:solidFill>
                <a:latin typeface="Calibri"/>
                <a:ea typeface="Calibri"/>
                <a:cs typeface="Calibri"/>
                <a:sym typeface="Calibri"/>
              </a:rPr>
              <a:t>statsmodels.org/stable/generated/statsmodels.stats.outliers_influence.variance_inflation_factor.html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4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48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5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3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81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10332720" y="4480560"/>
            <a:ext cx="3657600" cy="3657600"/>
          </a:xfrm>
          <a:prstGeom prst="ellipse">
            <a:avLst/>
          </a:prstGeom>
          <a:solidFill>
            <a:srgbClr val="281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3"/>
          <p:cNvSpPr/>
          <p:nvPr/>
        </p:nvSpPr>
        <p:spPr>
          <a:xfrm>
            <a:off x="10972800" y="5120640"/>
            <a:ext cx="1645920" cy="164592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457200" y="2651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&amp; Discussion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457200" y="3429000"/>
            <a:ext cx="10058400" cy="22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Thank you for reviewing our Adult Census Income analysis.</a:t>
            </a:r>
            <a:endParaRPr b="0" i="0" sz="1600" u="none" cap="none" strike="noStrike">
              <a:solidFill>
                <a:srgbClr val="DCC9E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DCC9E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Access GitHub Repository: @jmai3124: adult-census-income-project</a:t>
            </a:r>
            <a:endParaRPr sz="1600">
              <a:solidFill>
                <a:srgbClr val="DCC9E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EC"/>
              </a:buClr>
              <a:buSzPts val="1600"/>
              <a:buFont typeface="Calibri"/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https://github.com/jmai3124/adult-census-income-project</a:t>
            </a:r>
            <a:r>
              <a:rPr lang="en-US" sz="1600">
                <a:solidFill>
                  <a:srgbClr val="DCC9E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DCC9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2026-08-30T23:00:07Z</dcterms:created>
  <dc:creator>PptxGenJS</dc:creator>
</cp:coreProperties>
</file>